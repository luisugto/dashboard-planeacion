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4a60fc50af4051" /><Relationship Type="http://schemas.openxmlformats.org/officeDocument/2006/relationships/extended-properties" Target="/docProps/app.xml" Id="Rdcba818dcc71400a" /><Relationship Type="http://schemas.openxmlformats.org/officeDocument/2006/relationships/officeDocument" Target="/ppt/presentation.xml" Id="R7000bf7444d443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813cf5bd24dd4"/>
  </p:sldMasterIdLst>
  <p:notesMasterIdLst>
    <p:notesMasterId xmlns:r="http://schemas.openxmlformats.org/officeDocument/2006/relationships" r:id="Rc17c7ab5423c4a5f"/>
  </p:notesMasterIdLst>
  <p:sldIdLst>
    <p:sldId xmlns:r="http://schemas.openxmlformats.org/officeDocument/2006/relationships" id="256" r:id="R413320b12b9a4512"/>
    <p:sldId xmlns:r="http://schemas.openxmlformats.org/officeDocument/2006/relationships" id="257" r:id="R4172786909ac4ce1"/>
    <p:sldId xmlns:r="http://schemas.openxmlformats.org/officeDocument/2006/relationships" id="258" r:id="Rbaf6710941eb4a05"/>
    <p:sldId xmlns:r="http://schemas.openxmlformats.org/officeDocument/2006/relationships" id="259" r:id="R12445aee4bb44147"/>
    <p:sldId xmlns:r="http://schemas.openxmlformats.org/officeDocument/2006/relationships" id="260" r:id="Rdfeee1e063424e33"/>
    <p:sldId xmlns:r="http://schemas.openxmlformats.org/officeDocument/2006/relationships" id="261" r:id="R3d9e7e8aa9d741e3"/>
    <p:sldId xmlns:r="http://schemas.openxmlformats.org/officeDocument/2006/relationships" id="262" r:id="Rd3c2a31c191142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b565c8c2614218" /><Relationship Type="http://schemas.openxmlformats.org/officeDocument/2006/relationships/slideMaster" Target="/ppt/slideMasters/slideMaster1.xml" Id="R0fd813cf5bd24dd4" /><Relationship Type="http://schemas.openxmlformats.org/officeDocument/2006/relationships/notesMaster" Target="/ppt/notesMasters/notesMaster1.xml" Id="Rc17c7ab5423c4a5f" /><Relationship Type="http://schemas.openxmlformats.org/officeDocument/2006/relationships/presProps" Target="/ppt/presProps.xml" Id="Ra178ca19240d4c64" /><Relationship Type="http://schemas.openxmlformats.org/officeDocument/2006/relationships/tableStyles" Target="/ppt/tableStyles.xml" Id="R06d664b804554bd0" /><Relationship Type="http://schemas.openxmlformats.org/officeDocument/2006/relationships/slide" Target="/ppt/slides/slide1.xml" Id="R413320b12b9a4512" /><Relationship Type="http://schemas.openxmlformats.org/officeDocument/2006/relationships/slide" Target="/ppt/slides/slide2.xml" Id="R4172786909ac4ce1" /><Relationship Type="http://schemas.openxmlformats.org/officeDocument/2006/relationships/slide" Target="/ppt/slides/slide3.xml" Id="Rbaf6710941eb4a05" /><Relationship Type="http://schemas.openxmlformats.org/officeDocument/2006/relationships/slide" Target="/ppt/slides/slide4.xml" Id="R12445aee4bb44147" /><Relationship Type="http://schemas.openxmlformats.org/officeDocument/2006/relationships/slide" Target="/ppt/slides/slide5.xml" Id="Rdfeee1e063424e33" /><Relationship Type="http://schemas.openxmlformats.org/officeDocument/2006/relationships/slide" Target="/ppt/slides/slide6.xml" Id="R3d9e7e8aa9d741e3" /><Relationship Type="http://schemas.openxmlformats.org/officeDocument/2006/relationships/slide" Target="/ppt/slides/slide7.xml" Id="Rd3c2a31c1911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ba43c201a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5c782fc3349fe" /><Relationship Type="http://schemas.openxmlformats.org/officeDocument/2006/relationships/notesMaster" Target="/ppt/notesMasters/notesMaster1.xml" Id="R73d332c52639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fb6595016a4095" /><Relationship Type="http://schemas.openxmlformats.org/officeDocument/2006/relationships/notesMaster" Target="/ppt/notesMasters/notesMaster1.xml" Id="R096f39504df442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0db990eefe40c8" /><Relationship Type="http://schemas.openxmlformats.org/officeDocument/2006/relationships/notesMaster" Target="/ppt/notesMasters/notesMaster1.xml" Id="R4a6b993cd47d4f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c51452772e4745" /><Relationship Type="http://schemas.openxmlformats.org/officeDocument/2006/relationships/notesMaster" Target="/ppt/notesMasters/notesMaster1.xml" Id="R100d00b1bdee4e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7e06bb0b2d4fa7" /><Relationship Type="http://schemas.openxmlformats.org/officeDocument/2006/relationships/notesMaster" Target="/ppt/notesMasters/notesMaster1.xml" Id="R45f2eb9464e843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7c204c8eb64c8c" /><Relationship Type="http://schemas.openxmlformats.org/officeDocument/2006/relationships/notesMaster" Target="/ppt/notesMasters/notesMaster1.xml" Id="R2bdddb00fc6b47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c5fd129df45e8" /><Relationship Type="http://schemas.openxmlformats.org/officeDocument/2006/relationships/notesMaster" Target="/ppt/notesMasters/notesMaster1.xml" Id="R86c2396cce4e47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cifra 576 representa filas con ID_Actividad no vacío y único, no personas ni sesiones. Seis de ocho áreas del catálogo tienen registros. Cuatro actividades adicionales figuran como SIN ASIGNAR, ya incluidas en las 576. La tarjeta 7/9 del tablero incluye esta categoría administrativa como séptima categoría activa. No se mide cumplimiento de metas ni personas únicas.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https://docs.google.com/spreadsheets/d/1Enq__tSbcolJ7J7PS3qomn5idh9Zh56JdFA9wR9Gkm4/edit</a:t>
            </a:r>
          </a:p>
          <a:p xmlns:a="http://schemas.openxmlformats.org/drawingml/2006/main">
            <a:r>
              <a:t>Lectura de las tablas Registro_Actividades, Registro_Territorio, Registro_Poblacion, Regitro_Evidencia y Cat_Alineacion el 21/10/2026 a las 16:33 h de Ciudad de México. Agrupación por ID_Actividad. Uso interno de Planeación.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áreas esperadas se obtienen de los valores no vacíos de Direccion en Cat_Alineacion, excluyendo SIN ASIGNAR: ocho. La suma de las filas de la tabla es 576. Última captura significa máximo de Fecha_Captura, no fecha de última edición ni última sincronización. Los datos no prueban incumplimiento. Cat_Alineacion contiene además tres filas sin dirección, filas 48 a 50, excluidas del denominador.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https://docs.google.com/spreadsheets/d/1Enq__tSbcolJ7J7PS3qomn5idh9Zh56JdFA9wR9Gkm4/edit</a:t>
            </a:r>
          </a:p>
          <a:p xmlns:a="http://schemas.openxmlformats.org/drawingml/2006/main">
            <a:r>
              <a:t>Lectura de las tablas Registro_Actividades, Registro_Territorio, Registro_Poblacion, Regitro_Evidencia y Cat_Alineacion el 21/10/2026 a las 16:33 h de Ciudad de México. Agrupación por ID_Actividad. Uso interno de Planeación.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agrupan las filas de territorio y población por ID_Actividad antes de sumar cada fuente por separado. Sin territorio o población significa ausencia de filas relacionadas. Sin evidencia significa ausencia de un archivo vinculado en el módulo de evidencias. Hay 291 entradas de evidencia asociadas a 266 actividades. No se revisaron contenido ni permisos de apertura. De las 546 actividades con ambas fuentes y totales numéricos, 65 presentan diferencias. Las 30 restantes carecen de una o ambas fuentes. Los pendientes se superponen. No se suman ambas fuentes para estimar personas.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https://docs.google.com/spreadsheets/d/1Enq__tSbcolJ7J7PS3qomn5idh9Zh56JdFA9wR9Gkm4/edit</a:t>
            </a:r>
          </a:p>
          <a:p xmlns:a="http://schemas.openxmlformats.org/drawingml/2006/main">
            <a:r>
              <a:t>Corte de lectura: 21/10/2026, 16:33 h de Ciudad de México. Uso interno de Planeación.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se trata de un ranking de desempeño. Museos concentra 486/576 actividades (84.4%) y 273/310 de los faltantes documentales (88.1%). Formación concentra 52/65 diferencias detectadas (80.0%), con una tasa 52/61 entre comparables. Marce debe confirmar la convocatoria. Patrimonio tiene un caso de diferencia absoluta de 49,254 entre territorio y población, que requiere aclarar alcance, periodo y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https://docs.google.com/spreadsheets/d/1Enq__tSbcolJ7J7PS3qomn5idh9Zh56JdFA9wR9Gkm4/edit</a:t>
            </a:r>
          </a:p>
          <a:p xmlns:a="http://schemas.openxmlformats.org/drawingml/2006/main">
            <a:r>
              <a:t>Lectura de las tablas Registro_Actividades, Registro_Territorio, Registro_Poblacion, Regitro_Evidencia y Cat_Alineacion el 21/10/2026 a las 16:33 h de Ciudad de México. Agrupación por ID_Actividad. Uso interno de Planeación.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plazos son una propuesta, sujetos al acuerdo de las áreas. Cada reunión debe definir responsable, actividades por revisar y fecha de seguimiento. Las áreas deben aclarar las observaciones antes de corregirlas. Cat_Alineacion es un catálogo con 99 entradas de metas y alineación, no captura de actividades. No se modificaron la base ni el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https://docs.google.com/spreadsheets/d/1Enq__tSbcolJ7J7PS3qomn5idh9Zh56JdFA9wR9Gkm4/edit</a:t>
            </a:r>
          </a:p>
          <a:p xmlns:a="http://schemas.openxmlformats.org/drawingml/2006/main">
            <a:r>
              <a:t>Corte de lectura: 21/10/2026, 16:33 h de Ciudad de México. Uso interno de Planeación.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Registro_Actividades: casos en filas 331, 469 y 293 respectivamente. Totales calculados mediante suma de Cantidad en Registro_Territorio y Cantidad_Poblacion en Registro_Poblacion, enlazadas por ID_Actividad. Patrimonio: nombre completo Reporte de visitantes presenciales y virtuales en la Zona Arqueológica de Cañada de la Virgen en SMA., inicio 01/01/2026, fin 30/06/2026. Formación: XXV Concurso - Muestra. La Cocina del Noreste, fecha 25/09/2026. Museos: Lectura dramatizada de oráculos griegos, fecha 25/07/2026. No se determina cuál cifra es correcta con esta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https://docs.google.com/spreadsheets/d/1Enq__tSbcolJ7J7PS3qomn5idh9Zh56JdFA9wR9Gkm4/edit</a:t>
            </a:r>
          </a:p>
          <a:p xmlns:a="http://schemas.openxmlformats.org/drawingml/2006/main">
            <a:r>
              <a:t>Lectura de las tablas Registro_Actividades, Registro_Territorio, Registro_Poblacion, Regitro_Evidencia y Cat_Alineacion el 21/10/2026 a las 16:33 h de Ciudad de México. Agrupación por ID_Actividad. Uso interno de Planeación.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fechas de captura abarcan del 04/06/2026 al 21/10/2026. Los inicios de actividad abarcan del 01/01/2026 al 11/10/2026. Algunos términos de actividad son posteriores al corte, incluso en 2027. Sin registro relacionado no equivale a cero personas. Un archivo vinculado no acredita suficiencia documental. Las diferencias requieren comprobar universo, periodo y criterio de conteo. No se encontraron claves de actividad duplicadas ni hijos huérfanos en las tres tablas relacionadas. Las 99 entradas de Cat_Alineacion son referencias de planeación y no actividades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https://docs.google.com/spreadsheets/d/1Enq__tSbcolJ7J7PS3qomn5idh9Zh56JdFA9wR9Gkm4/edit</a:t>
            </a:r>
          </a:p>
          <a:p xmlns:a="http://schemas.openxmlformats.org/drawingml/2006/main">
            <a:r>
              <a:t>Corte de lectura: 21/10/2026, 16:33 h de Ciudad de México. Uso interno de Planeación.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3fa1a357f4a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0b1328ce84e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dc9d3074249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addc96ca848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f2515f3c241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7aa92c99340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2324D5-9237-47D0-93B5-C3D8DAA9E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FA81A7-5BAE-4EAB-A7C0-DDDCB98CB9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989F5D-BE0B-4DA6-B2D7-C934371E3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DEE018-FBAB-41A6-B0F0-AA30F0376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457F06-6FD8-4D42-803D-03F33F8F63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9F6CA0-5FC1-4493-8D34-68F7D6D62F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D5D1AB-940F-4F15-841C-E12C06AFF9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0FC5FD-DA8A-48E2-92D4-C6ABA57CD5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7DD6A1-8CBD-473C-94BC-0D47A36AA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7B00F5-2345-49AB-A092-9956830C6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c7cf0ab0a342b6" /><Relationship Type="http://schemas.openxmlformats.org/officeDocument/2006/relationships/slideLayout" Target="/ppt/slideLayouts/slideLayout1.xml" Id="Rc1e3523688334a29" /><Relationship Type="http://schemas.openxmlformats.org/officeDocument/2006/relationships/slideLayout" Target="/ppt/slideLayouts/slideLayout2.xml" Id="R6213bd3e755e4e5f" /><Relationship Type="http://schemas.openxmlformats.org/officeDocument/2006/relationships/slideLayout" Target="/ppt/slideLayouts/slideLayout3.xml" Id="R87ab3c78936c441d" /><Relationship Type="http://schemas.openxmlformats.org/officeDocument/2006/relationships/slideLayout" Target="/ppt/slideLayouts/slideLayout4.xml" Id="R9bb27fb47b734b08" /><Relationship Type="http://schemas.openxmlformats.org/officeDocument/2006/relationships/slideLayout" Target="/ppt/slideLayouts/slideLayout5.xml" Id="R01fec09fc0b2464a" /><Relationship Type="http://schemas.openxmlformats.org/officeDocument/2006/relationships/slideLayout" Target="/ppt/slideLayouts/slideLayout6.xml" Id="R2a141a84ccbc46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e3523688334a29"/>
    <p:sldLayoutId xmlns:r="http://schemas.openxmlformats.org/officeDocument/2006/relationships" id="2147483650" r:id="R6213bd3e755e4e5f"/>
    <p:sldLayoutId xmlns:r="http://schemas.openxmlformats.org/officeDocument/2006/relationships" id="2147483651" r:id="R87ab3c78936c441d"/>
    <p:sldLayoutId xmlns:r="http://schemas.openxmlformats.org/officeDocument/2006/relationships" id="2147483652" r:id="R9bb27fb47b734b08"/>
    <p:sldLayoutId xmlns:r="http://schemas.openxmlformats.org/officeDocument/2006/relationships" id="2147483653" r:id="R01fec09fc0b2464a"/>
    <p:sldLayoutId xmlns:r="http://schemas.openxmlformats.org/officeDocument/2006/relationships" id="2147483654" r:id="R2a141a84ccbc46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40cf00e874526" /><Relationship Type="http://schemas.openxmlformats.org/officeDocument/2006/relationships/image" Target="/ppt/media/image.png" Id="R9648e52178d04d67" /><Relationship Type="http://schemas.openxmlformats.org/officeDocument/2006/relationships/notesSlide" Target="/ppt/notesSlides/notesSlide1.xml" Id="Ra76e39f8fdbc48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60102aac74d79" /><Relationship Type="http://schemas.openxmlformats.org/officeDocument/2006/relationships/image" Target="/ppt/media/image2.png" Id="Raed83a4c21864843" /><Relationship Type="http://schemas.openxmlformats.org/officeDocument/2006/relationships/notesSlide" Target="/ppt/notesSlides/notesSlide2.xml" Id="R6bf7c667ea57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a66d752404706" /><Relationship Type="http://schemas.openxmlformats.org/officeDocument/2006/relationships/image" Target="/ppt/media/image3.png" Id="Rbd5b6fd746da4bff" /><Relationship Type="http://schemas.openxmlformats.org/officeDocument/2006/relationships/notesSlide" Target="/ppt/notesSlides/notesSlide3.xml" Id="Rfa651ede1bf2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a21583fbe4566" /><Relationship Type="http://schemas.openxmlformats.org/officeDocument/2006/relationships/image" Target="/ppt/media/image4.png" Id="Rb62985bccc6848d3" /><Relationship Type="http://schemas.openxmlformats.org/officeDocument/2006/relationships/notesSlide" Target="/ppt/notesSlides/notesSlide4.xml" Id="Rc70b75e99ce448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66313fb5349fa" /><Relationship Type="http://schemas.openxmlformats.org/officeDocument/2006/relationships/image" Target="/ppt/media/image5.png" Id="R4b49224f98ec4952" /><Relationship Type="http://schemas.openxmlformats.org/officeDocument/2006/relationships/notesSlide" Target="/ppt/notesSlides/notesSlide5.xml" Id="R2409cb9431ab47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425722c374384" /><Relationship Type="http://schemas.openxmlformats.org/officeDocument/2006/relationships/image" Target="/ppt/media/image6.png" Id="Rcfcf5975b2774eb8" /><Relationship Type="http://schemas.openxmlformats.org/officeDocument/2006/relationships/notesSlide" Target="/ppt/notesSlides/notesSlide6.xml" Id="Ra86a4aa01b384b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905803862441f" /><Relationship Type="http://schemas.openxmlformats.org/officeDocument/2006/relationships/image" Target="/ppt/media/image7.png" Id="Rabb317ec57824183" /><Relationship Type="http://schemas.openxmlformats.org/officeDocument/2006/relationships/notesSlide" Target="/ppt/notesSlides/notesSlide7.xml" Id="Rd43f92a3164c44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5989B-1703-4230-ADE9-DC613CE02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8e52178d04d67"/>
          <a:stretch xmlns:a="http://schemas.openxmlformats.org/drawingml/2006/main"/>
        </p:blipFill>
        <p:spPr>
          <a:xfrm xmlns:a="http://schemas.openxmlformats.org/drawingml/2006/main">
            <a:off x="571500" y="234074"/>
            <a:ext cx="590550" cy="503403"/>
          </a:xfrm>
          <a:prstGeom xmlns:a="http://schemas.openxmlformats.org/drawingml/2006/main" prst="rect">
            <a:avLst/>
          </a:prstGeom>
        </p:spPr>
      </p:pic>
      <p:sp>
        <p:nvSpPr>
          <p:cNvPr id="2" name="encabezado">
            <a:extLst xmlns:a="http://schemas.openxmlformats.org/drawingml/2006/main">
              <a:ext uri="{FF2B5EF4-FFF2-40B4-BE49-F238E27FC236}">
                <a16:creationId xmlns:a16="http://schemas.microsoft.com/office/drawing/2014/main" id="{47D7705D-F9BB-4C63-8404-FFCF8D9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SECRETARÍA DE CULTURA</a:t>
            </a:r>
          </a:p>
        </p:txBody>
      </p:sp>
      <p:sp>
        <p:nvSpPr>
          <p:cNvPr id="3" name="area">
            <a:extLst xmlns:a="http://schemas.openxmlformats.org/drawingml/2006/main">
              <a:ext uri="{FF2B5EF4-FFF2-40B4-BE49-F238E27FC236}">
                <a16:creationId xmlns:a16="http://schemas.microsoft.com/office/drawing/2014/main" id="{573F2F7E-AEE4-43F6-AC1B-1B6754FB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Dirección de Planeación</a:t>
            </a:r>
          </a:p>
        </p:txBody>
      </p:sp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A1C7269B-192A-43A3-93CC-89C2BBA9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Estado de captura y calidad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de la información</a:t>
            </a:r>
          </a:p>
        </p:txBody>
      </p:sp>
      <p:sp>
        <p:nvSpPr>
          <p:cNvPr id="5" name="fuente">
            <a:extLst xmlns:a="http://schemas.openxmlformats.org/drawingml/2006/main">
              <a:ext uri="{FF2B5EF4-FFF2-40B4-BE49-F238E27FC236}">
                <a16:creationId xmlns:a16="http://schemas.microsoft.com/office/drawing/2014/main" id="{19F0D765-F3B7-4A60-958B-15426C15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Fuente: DB_Sistema_Cultura_GTO_V1. Corte de lectura: 21 oct 2026, 16:33 h.</a:t>
            </a:r>
          </a:p>
        </p:txBody>
      </p:sp>
      <p:sp>
        <p:nvSpPr>
          <p:cNvPr id="6" name="pagina">
            <a:extLst xmlns:a="http://schemas.openxmlformats.org/drawingml/2006/main">
              <a:ext uri="{FF2B5EF4-FFF2-40B4-BE49-F238E27FC236}">
                <a16:creationId xmlns:a16="http://schemas.microsoft.com/office/drawing/2014/main" id="{E3E3A38C-1356-42CE-BEA8-3E281FC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alcance">
            <a:extLst xmlns:a="http://schemas.openxmlformats.org/drawingml/2006/main">
              <a:ext uri="{FF2B5EF4-FFF2-40B4-BE49-F238E27FC236}">
                <a16:creationId xmlns:a16="http://schemas.microsoft.com/office/drawing/2014/main" id="{8510247D-E7AD-401D-8DD8-3E393E0D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Acumulado disponible al 21 de octubre de 2026</a:t>
            </a:r>
          </a:p>
        </p:txBody>
      </p:sp>
      <p:sp>
        <p:nvSpPr>
          <p:cNvPr id="8" name="numero-actividades">
            <a:extLst xmlns:a="http://schemas.openxmlformats.org/drawingml/2006/main">
              <a:ext uri="{FF2B5EF4-FFF2-40B4-BE49-F238E27FC236}">
                <a16:creationId xmlns:a16="http://schemas.microsoft.com/office/drawing/2014/main" id="{FE671F6E-CC44-4755-95B2-F48C763A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576</a:t>
            </a:r>
          </a:p>
        </p:txBody>
      </p:sp>
      <p:sp>
        <p:nvSpPr>
          <p:cNvPr id="9" name="etiqueta-actividades">
            <a:extLst xmlns:a="http://schemas.openxmlformats.org/drawingml/2006/main">
              <a:ext uri="{FF2B5EF4-FFF2-40B4-BE49-F238E27FC236}">
                <a16:creationId xmlns:a16="http://schemas.microsoft.com/office/drawing/2014/main" id="{A33D53AE-D9FB-474F-8F4B-75E89B1B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actividades registradas</a:t>
            </a:r>
          </a:p>
        </p:txBody>
      </p:sp>
      <p:sp>
        <p:nvSpPr>
          <p:cNvPr id="10" name="numero-areas">
            <a:extLst xmlns:a="http://schemas.openxmlformats.org/drawingml/2006/main">
              <a:ext uri="{FF2B5EF4-FFF2-40B4-BE49-F238E27FC236}">
                <a16:creationId xmlns:a16="http://schemas.microsoft.com/office/drawing/2014/main" id="{ACDDB600-4546-4879-BBC3-97FC7F46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6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6 de 8</a:t>
            </a:r>
          </a:p>
        </p:txBody>
      </p:sp>
      <p:sp>
        <p:nvSpPr>
          <p:cNvPr id="11" name="etiqueta-areas">
            <a:extLst xmlns:a="http://schemas.openxmlformats.org/drawingml/2006/main">
              <a:ext uri="{FF2B5EF4-FFF2-40B4-BE49-F238E27FC236}">
                <a16:creationId xmlns:a16="http://schemas.microsoft.com/office/drawing/2014/main" id="{EC1A01F1-594E-4481-BBA7-E527DAE7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áreas identificadas con captura</a:t>
            </a:r>
          </a:p>
        </p:txBody>
      </p:sp>
      <p:sp>
        <p:nvSpPr>
          <p:cNvPr id="12" name="objetivo">
            <a:extLst xmlns:a="http://schemas.openxmlformats.org/drawingml/2006/main">
              <a:ext uri="{FF2B5EF4-FFF2-40B4-BE49-F238E27FC236}">
                <a16:creationId xmlns:a16="http://schemas.microsoft.com/office/drawing/2014/main" id="{BFD2610C-8590-4003-A371-516D138E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Revisión ejecutiva para definir reuniones de acompañamiento</a:t>
            </a:r>
          </a:p>
        </p:txBody>
      </p:sp>
      <p:sp>
        <p:nvSpPr>
          <p:cNvPr id="13" name="autor">
            <a:extLst xmlns:a="http://schemas.openxmlformats.org/drawingml/2006/main">
              <a:ext uri="{FF2B5EF4-FFF2-40B4-BE49-F238E27FC236}">
                <a16:creationId xmlns:a16="http://schemas.microsoft.com/office/drawing/2014/main" id="{B37A9192-DECD-455F-BB8B-D30E3590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Luis Angel Durán Alvarez  ·  PULSO Q</a:t>
            </a:r>
          </a:p>
        </p:txBody>
      </p:sp>
    </p:spTree>
    <p:extLst>
      <p:ext uri="{BB962C8B-B14F-4D97-AF65-F5344CB8AC3E}">
        <p14:creationId xmlns:p14="http://schemas.microsoft.com/office/powerpoint/2010/main" val="1140796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D7451-91F4-4802-9468-BDAFC3E33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83a4c21864843"/>
          <a:stretch xmlns:a="http://schemas.openxmlformats.org/drawingml/2006/main"/>
        </p:blipFill>
        <p:spPr>
          <a:xfrm xmlns:a="http://schemas.openxmlformats.org/drawingml/2006/main">
            <a:off x="571500" y="234074"/>
            <a:ext cx="590550" cy="503403"/>
          </a:xfrm>
          <a:prstGeom xmlns:a="http://schemas.openxmlformats.org/drawingml/2006/main" prst="rect">
            <a:avLst/>
          </a:prstGeom>
        </p:spPr>
      </p:pic>
      <p:sp>
        <p:nvSpPr>
          <p:cNvPr id="2" name="encabezado">
            <a:extLst xmlns:a="http://schemas.openxmlformats.org/drawingml/2006/main">
              <a:ext uri="{FF2B5EF4-FFF2-40B4-BE49-F238E27FC236}">
                <a16:creationId xmlns:a16="http://schemas.microsoft.com/office/drawing/2014/main" id="{5FE99B8C-B4DE-4B3C-B8F9-BA14E0D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SECRETARÍA DE CULTURA</a:t>
            </a:r>
          </a:p>
        </p:txBody>
      </p:sp>
      <p:sp>
        <p:nvSpPr>
          <p:cNvPr id="3" name="area">
            <a:extLst xmlns:a="http://schemas.openxmlformats.org/drawingml/2006/main">
              <a:ext uri="{FF2B5EF4-FFF2-40B4-BE49-F238E27FC236}">
                <a16:creationId xmlns:a16="http://schemas.microsoft.com/office/drawing/2014/main" id="{71CD2379-0AC5-4B55-8E9B-5DB7A70F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Dirección de Planeación</a:t>
            </a:r>
          </a:p>
        </p:txBody>
      </p:sp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9794854D-04C6-46E4-BA97-AC8A490B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Participación de las áreas en la captura</a:t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D46F458C-13CF-485E-930D-1CD4D44A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Forum y Comunicación Social no tienen actividades registradas</a:t>
            </a:r>
          </a:p>
        </p:txBody>
      </p:sp>
      <p:sp>
        <p:nvSpPr>
          <p:cNvPr id="6" name="fuente">
            <a:extLst xmlns:a="http://schemas.openxmlformats.org/drawingml/2006/main">
              <a:ext uri="{FF2B5EF4-FFF2-40B4-BE49-F238E27FC236}">
                <a16:creationId xmlns:a16="http://schemas.microsoft.com/office/drawing/2014/main" id="{3ED1BAF9-FB38-43B7-96B7-D04AF009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Fuente: DB_Sistema_Cultura_GTO_V1. Corte de lectura: 21 oct 2026, 16:33 h.</a:t>
            </a:r>
          </a:p>
        </p:txBody>
      </p:sp>
      <p:sp>
        <p:nvSpPr>
          <p:cNvPr id="7" name="pagina">
            <a:extLst xmlns:a="http://schemas.openxmlformats.org/drawingml/2006/main">
              <a:ext uri="{FF2B5EF4-FFF2-40B4-BE49-F238E27FC236}">
                <a16:creationId xmlns:a16="http://schemas.microsoft.com/office/drawing/2014/main" id="{86EF5FB0-2B1F-4103-9490-771E1369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F94C7-60A3-4D65-9046-3FD675D6B9C9}"/>
              </a:ext>
            </a:extLst>
          </p:cNvPr>
          <p:cNvGraphicFramePr/>
          <p:nvPr/>
        </p:nvGraphicFramePr>
        <p:xfrm>
          <a:off xmlns:a="http://schemas.openxmlformats.org/drawingml/2006/main" x="571500" y="232410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53250"/>
                <a:gridCol w="1714500"/>
                <a:gridCol w="2381250"/>
              </a:tblGrid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 o categoría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Última captura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Museos, Artes Visuales y Exposiciones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486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21 oct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Formación e Investigación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67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7 oct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Editorial y Publicaciones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6 oct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Vinculación y Desarrollo Cultural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21 oct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Producción Artística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7 oct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Patrimonio Cultural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28 ago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Forum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Sin registro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Comunicación Social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Sin registro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34766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Sin asignar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7 oct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ota">
            <a:extLst xmlns:a="http://schemas.openxmlformats.org/drawingml/2006/main">
              <a:ext uri="{FF2B5EF4-FFF2-40B4-BE49-F238E27FC236}">
                <a16:creationId xmlns:a16="http://schemas.microsoft.com/office/drawing/2014/main" id="{143CD900-C22D-475D-A046-1D4B8C1B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El 7/9 del tablero incluye “Sin asignar”. Cero registros requiere confirmar alcance y obligación de reporte.</a:t>
            </a:r>
          </a:p>
        </p:txBody>
      </p:sp>
    </p:spTree>
    <p:extLst>
      <p:ext uri="{BB962C8B-B14F-4D97-AF65-F5344CB8AC3E}">
        <p14:creationId xmlns:p14="http://schemas.microsoft.com/office/powerpoint/2010/main" val="1144828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9679E-6D5C-428D-AE2A-5AA318BC31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b6fd746da4bff"/>
          <a:stretch xmlns:a="http://schemas.openxmlformats.org/drawingml/2006/main"/>
        </p:blipFill>
        <p:spPr>
          <a:xfrm xmlns:a="http://schemas.openxmlformats.org/drawingml/2006/main">
            <a:off x="571500" y="234074"/>
            <a:ext cx="590550" cy="503403"/>
          </a:xfrm>
          <a:prstGeom xmlns:a="http://schemas.openxmlformats.org/drawingml/2006/main" prst="rect">
            <a:avLst/>
          </a:prstGeom>
        </p:spPr>
      </p:pic>
      <p:sp>
        <p:nvSpPr>
          <p:cNvPr id="2" name="encabezado">
            <a:extLst xmlns:a="http://schemas.openxmlformats.org/drawingml/2006/main">
              <a:ext uri="{FF2B5EF4-FFF2-40B4-BE49-F238E27FC236}">
                <a16:creationId xmlns:a16="http://schemas.microsoft.com/office/drawing/2014/main" id="{F2D70DEB-EC4D-43B2-83FC-7AF26B1D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SECRETARÍA DE CULTURA</a:t>
            </a:r>
          </a:p>
        </p:txBody>
      </p:sp>
      <p:sp>
        <p:nvSpPr>
          <p:cNvPr id="3" name="area">
            <a:extLst xmlns:a="http://schemas.openxmlformats.org/drawingml/2006/main">
              <a:ext uri="{FF2B5EF4-FFF2-40B4-BE49-F238E27FC236}">
                <a16:creationId xmlns:a16="http://schemas.microsoft.com/office/drawing/2014/main" id="{B7C80890-0ACB-4ECA-8657-2B22AFE3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Dirección de Planeación</a:t>
            </a:r>
          </a:p>
        </p:txBody>
      </p:sp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CDC76481-4FA8-414F-865E-D49B6F6C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Pendientes de información por área</a:t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B1B0CD32-75CA-47AE-8C04-4B27F255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310 actividades sin archivo vinculado en el módulo de evidencias</a:t>
            </a:r>
          </a:p>
        </p:txBody>
      </p:sp>
      <p:sp>
        <p:nvSpPr>
          <p:cNvPr id="6" name="fuente">
            <a:extLst xmlns:a="http://schemas.openxmlformats.org/drawingml/2006/main">
              <a:ext uri="{FF2B5EF4-FFF2-40B4-BE49-F238E27FC236}">
                <a16:creationId xmlns:a16="http://schemas.microsoft.com/office/drawing/2014/main" id="{D492BFB6-E4F2-4314-80FD-4C64DFE7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Fuente: DB_Sistema_Cultura_GTO_V1. Corte de lectura: 21 oct 2026, 16:33 h.</a:t>
            </a:r>
          </a:p>
        </p:txBody>
      </p:sp>
      <p:sp>
        <p:nvSpPr>
          <p:cNvPr id="7" name="pagina">
            <a:extLst xmlns:a="http://schemas.openxmlformats.org/drawingml/2006/main">
              <a:ext uri="{FF2B5EF4-FFF2-40B4-BE49-F238E27FC236}">
                <a16:creationId xmlns:a16="http://schemas.microsoft.com/office/drawing/2014/main" id="{EDA5A7A6-0CA9-49CF-A71A-B9C243D8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5D093-F5E6-4723-A9A3-6D881F11D5BB}"/>
              </a:ext>
            </a:extLst>
          </p:cNvPr>
          <p:cNvGraphicFramePr/>
          <p:nvPr/>
        </p:nvGraphicFramePr>
        <p:xfrm>
          <a:off xmlns:a="http://schemas.openxmlformats.org/drawingml/2006/main" x="571500" y="231457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1219200"/>
                <a:gridCol w="1323975"/>
                <a:gridCol w="1323975"/>
                <a:gridCol w="1323975"/>
                <a:gridCol w="2371725"/>
              </a:tblGrid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</a:t>
                      </a: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territorio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</a:t>
                      </a: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población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</a:t>
                      </a: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Diferencias*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Museos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486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273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8 / 479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Formación e Investigación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67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52 / 61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Editorial y Publicaciones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 / 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Vinculación y Desarrollo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No comparable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Producción Artística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No comparable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Patrimonio Cultural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 / 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Sin asignar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3 / 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83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310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65 / 546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9" name="metodo">
            <a:extLst xmlns:a="http://schemas.openxmlformats.org/drawingml/2006/main">
              <a:ext uri="{FF2B5EF4-FFF2-40B4-BE49-F238E27FC236}">
                <a16:creationId xmlns:a16="http://schemas.microsoft.com/office/drawing/2014/main" id="{383144A1-73C1-49BB-B064-07D7FFE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* Actividades con cifras distintas / actividades con ambas fuentes. Los pendientes se superponen.</a:t>
            </a:r>
          </a:p>
        </p:txBody>
      </p:sp>
      <p:sp>
        <p:nvSpPr>
          <p:cNvPr id="10" name="limite">
            <a:extLst xmlns:a="http://schemas.openxmlformats.org/drawingml/2006/main">
              <a:ext uri="{FF2B5EF4-FFF2-40B4-BE49-F238E27FC236}">
                <a16:creationId xmlns:a16="http://schemas.microsoft.com/office/drawing/2014/main" id="{403C4132-FFA2-4CA1-A6AC-AC6259F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Archivo vinculado no equivale a evidencia validada. Las diferencias requieren aclaración del equipo.</a:t>
            </a:r>
          </a:p>
        </p:txBody>
      </p:sp>
    </p:spTree>
    <p:extLst>
      <p:ext uri="{BB962C8B-B14F-4D97-AF65-F5344CB8AC3E}">
        <p14:creationId xmlns:p14="http://schemas.microsoft.com/office/powerpoint/2010/main" val="179824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4B692-6EC0-486F-8751-ED6372E1D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985bccc6848d3"/>
          <a:stretch xmlns:a="http://schemas.openxmlformats.org/drawingml/2006/main"/>
        </p:blipFill>
        <p:spPr>
          <a:xfrm xmlns:a="http://schemas.openxmlformats.org/drawingml/2006/main">
            <a:off x="571500" y="234074"/>
            <a:ext cx="590550" cy="503403"/>
          </a:xfrm>
          <a:prstGeom xmlns:a="http://schemas.openxmlformats.org/drawingml/2006/main" prst="rect">
            <a:avLst/>
          </a:prstGeom>
        </p:spPr>
      </p:pic>
      <p:sp>
        <p:nvSpPr>
          <p:cNvPr id="2" name="encabezado">
            <a:extLst xmlns:a="http://schemas.openxmlformats.org/drawingml/2006/main">
              <a:ext uri="{FF2B5EF4-FFF2-40B4-BE49-F238E27FC236}">
                <a16:creationId xmlns:a16="http://schemas.microsoft.com/office/drawing/2014/main" id="{D1B565DD-6FAB-4C31-A21B-00975A0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SECRETARÍA DE CULTURA</a:t>
            </a:r>
          </a:p>
        </p:txBody>
      </p:sp>
      <p:sp>
        <p:nvSpPr>
          <p:cNvPr id="3" name="area">
            <a:extLst xmlns:a="http://schemas.openxmlformats.org/drawingml/2006/main">
              <a:ext uri="{FF2B5EF4-FFF2-40B4-BE49-F238E27FC236}">
                <a16:creationId xmlns:a16="http://schemas.microsoft.com/office/drawing/2014/main" id="{9ADA04D1-A29F-4014-9CAF-781C0270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Dirección de Planeación</a:t>
            </a:r>
          </a:p>
        </p:txBody>
      </p:sp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029A3BF8-53C2-4779-9B5A-ED48485F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Propuesta para las primeras dos reuniones</a:t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08523783-C13C-45CC-A530-3F555BF7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Selección por volumen de pendientes y frecuencia de diferencias</a:t>
            </a:r>
          </a:p>
        </p:txBody>
      </p:sp>
      <p:sp>
        <p:nvSpPr>
          <p:cNvPr id="6" name="fuente">
            <a:extLst xmlns:a="http://schemas.openxmlformats.org/drawingml/2006/main">
              <a:ext uri="{FF2B5EF4-FFF2-40B4-BE49-F238E27FC236}">
                <a16:creationId xmlns:a16="http://schemas.microsoft.com/office/drawing/2014/main" id="{55B62CFC-310C-475B-BF12-EFEDE032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Fuente: DB_Sistema_Cultura_GTO_V1. Corte de lectura: 21 oct 2026, 16:33 h.</a:t>
            </a:r>
          </a:p>
        </p:txBody>
      </p:sp>
      <p:sp>
        <p:nvSpPr>
          <p:cNvPr id="7" name="pagina">
            <a:extLst xmlns:a="http://schemas.openxmlformats.org/drawingml/2006/main">
              <a:ext uri="{FF2B5EF4-FFF2-40B4-BE49-F238E27FC236}">
                <a16:creationId xmlns:a16="http://schemas.microsoft.com/office/drawing/2014/main" id="{167BA23F-FD25-4D9F-B09A-11EE2A2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museos-titulo">
            <a:extLst xmlns:a="http://schemas.openxmlformats.org/drawingml/2006/main">
              <a:ext uri="{FF2B5EF4-FFF2-40B4-BE49-F238E27FC236}">
                <a16:creationId xmlns:a16="http://schemas.microsoft.com/office/drawing/2014/main" id="{E0F8E4F1-EF82-403F-9A71-F06E1645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01  Museos, Artes Visuales y Exposiciones</a:t>
            </a:r>
          </a:p>
        </p:txBody>
      </p:sp>
      <p:sp>
        <p:nvSpPr>
          <p:cNvPr id="9" name="museos-dato">
            <a:extLst xmlns:a="http://schemas.openxmlformats.org/drawingml/2006/main">
              <a:ext uri="{FF2B5EF4-FFF2-40B4-BE49-F238E27FC236}">
                <a16:creationId xmlns:a16="http://schemas.microsoft.com/office/drawing/2014/main" id="{430E1BD3-27CD-47E6-9DAA-2AF061B7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A3A"/>
                </a:solidFill>
                <a:latin typeface="Arial"/>
                <a:ea typeface="Arial"/>
                <a:cs typeface="Arial"/>
              </a:rPr>
              <a:t>273 de 486 actividades sin evidencia vinculada (56.2%)</a:t>
            </a:r>
          </a:p>
        </p:txBody>
      </p:sp>
      <p:sp>
        <p:nvSpPr>
          <p:cNvPr id="10" name="museos-objetivo">
            <a:extLst xmlns:a="http://schemas.openxmlformats.org/drawingml/2006/main">
              <a:ext uri="{FF2B5EF4-FFF2-40B4-BE49-F238E27FC236}">
                <a16:creationId xmlns:a16="http://schemas.microsoft.com/office/drawing/2014/main" id="{FD682B3E-3CE4-49A8-91E8-7565FB02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Objetivo: acordar el respaldo documental y revisar los casos sin territorio o población.</a:t>
            </a:r>
          </a:p>
        </p:txBody>
      </p:sp>
      <p:sp>
        <p:nvSpPr>
          <p:cNvPr id="11" name="formacion-titulo">
            <a:extLst xmlns:a="http://schemas.openxmlformats.org/drawingml/2006/main">
              <a:ext uri="{FF2B5EF4-FFF2-40B4-BE49-F238E27FC236}">
                <a16:creationId xmlns:a16="http://schemas.microsoft.com/office/drawing/2014/main" id="{620DF074-B475-4FE2-A3B8-C53B8018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02  Formación e Investigación</a:t>
            </a:r>
          </a:p>
        </p:txBody>
      </p:sp>
      <p:sp>
        <p:nvSpPr>
          <p:cNvPr id="12" name="formacion-dato">
            <a:extLst xmlns:a="http://schemas.openxmlformats.org/drawingml/2006/main">
              <a:ext uri="{FF2B5EF4-FFF2-40B4-BE49-F238E27FC236}">
                <a16:creationId xmlns:a16="http://schemas.microsoft.com/office/drawing/2014/main" id="{D5A5FBB0-450F-4C25-960C-E451B7D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A3A"/>
                </a:solidFill>
                <a:latin typeface="Arial"/>
                <a:ea typeface="Arial"/>
                <a:cs typeface="Arial"/>
              </a:rPr>
              <a:t>52 de 61 actividades comparables con diferencias (85.2%)</a:t>
            </a:r>
          </a:p>
        </p:txBody>
      </p:sp>
      <p:sp>
        <p:nvSpPr>
          <p:cNvPr id="13" name="formacion-objetivo">
            <a:extLst xmlns:a="http://schemas.openxmlformats.org/drawingml/2006/main">
              <a:ext uri="{FF2B5EF4-FFF2-40B4-BE49-F238E27FC236}">
                <a16:creationId xmlns:a16="http://schemas.microsoft.com/office/drawing/2014/main" id="{35ADE3E9-E20E-455D-B0E5-4C900D72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Objetivo: aclarar el conteo por actividad y el desglose demográfico. Hay 25 actividades sin evidencia.</a:t>
            </a:r>
          </a:p>
        </p:txBody>
      </p:sp>
      <p:sp>
        <p:nvSpPr>
          <p:cNvPr id="14" name="decide">
            <a:extLst xmlns:a="http://schemas.openxmlformats.org/drawingml/2006/main">
              <a:ext uri="{FF2B5EF4-FFF2-40B4-BE49-F238E27FC236}">
                <a16:creationId xmlns:a16="http://schemas.microsoft.com/office/drawing/2014/main" id="{D0B3F236-3ED4-43C7-AB40-9FC99BC8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Propuesta para decisión de Planeación. Patrimonio requiere una aclaración puntual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436023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E9845-539E-4F81-B1AA-FE2589F6A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224f98ec4952"/>
          <a:stretch xmlns:a="http://schemas.openxmlformats.org/drawingml/2006/main"/>
        </p:blipFill>
        <p:spPr>
          <a:xfrm xmlns:a="http://schemas.openxmlformats.org/drawingml/2006/main">
            <a:off x="571500" y="234074"/>
            <a:ext cx="590550" cy="503403"/>
          </a:xfrm>
          <a:prstGeom xmlns:a="http://schemas.openxmlformats.org/drawingml/2006/main" prst="rect">
            <a:avLst/>
          </a:prstGeom>
        </p:spPr>
      </p:pic>
      <p:sp>
        <p:nvSpPr>
          <p:cNvPr id="2" name="encabezado">
            <a:extLst xmlns:a="http://schemas.openxmlformats.org/drawingml/2006/main">
              <a:ext uri="{FF2B5EF4-FFF2-40B4-BE49-F238E27FC236}">
                <a16:creationId xmlns:a16="http://schemas.microsoft.com/office/drawing/2014/main" id="{ECAA43AB-D0A2-4DA3-89E5-D7212D8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SECRETARÍA DE CULTURA</a:t>
            </a:r>
          </a:p>
        </p:txBody>
      </p:sp>
      <p:sp>
        <p:nvSpPr>
          <p:cNvPr id="3" name="area">
            <a:extLst xmlns:a="http://schemas.openxmlformats.org/drawingml/2006/main">
              <a:ext uri="{FF2B5EF4-FFF2-40B4-BE49-F238E27FC236}">
                <a16:creationId xmlns:a16="http://schemas.microsoft.com/office/drawing/2014/main" id="{2B5F890F-102E-4215-8027-6E5E8C0D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Dirección de Planeación</a:t>
            </a:r>
          </a:p>
        </p:txBody>
      </p:sp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2456DB91-7C9D-4D98-9DBE-DEDDEAA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Acuerdos propuestos para el seguimiento</a:t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3BB4AE95-A50E-4BBB-85C6-3BBBEA2D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Cada reunión debe cerrar con responsable, pendiente y fecha de revisión</a:t>
            </a:r>
          </a:p>
        </p:txBody>
      </p:sp>
      <p:sp>
        <p:nvSpPr>
          <p:cNvPr id="6" name="fuente">
            <a:extLst xmlns:a="http://schemas.openxmlformats.org/drawingml/2006/main">
              <a:ext uri="{FF2B5EF4-FFF2-40B4-BE49-F238E27FC236}">
                <a16:creationId xmlns:a16="http://schemas.microsoft.com/office/drawing/2014/main" id="{04F4AFC8-0DD1-4C02-B0FD-C0CB801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Fuente: DB_Sistema_Cultura_GTO_V1. Corte de lectura: 21 oct 2026, 16:33 h.</a:t>
            </a:r>
          </a:p>
        </p:txBody>
      </p:sp>
      <p:sp>
        <p:nvSpPr>
          <p:cNvPr id="7" name="pagina">
            <a:extLst xmlns:a="http://schemas.openxmlformats.org/drawingml/2006/main">
              <a:ext uri="{FF2B5EF4-FFF2-40B4-BE49-F238E27FC236}">
                <a16:creationId xmlns:a16="http://schemas.microsoft.com/office/drawing/2014/main" id="{C1DF8C5F-8465-4682-82F2-B19DD03A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16B13-6839-463A-9B8A-CE6454C0031F}"/>
              </a:ext>
            </a:extLst>
          </p:cNvPr>
          <p:cNvGraphicFramePr/>
          <p:nvPr/>
        </p:nvGraphicFramePr>
        <p:xfrm>
          <a:off xmlns:a="http://schemas.openxmlformats.org/drawingml/2006/main" x="571500" y="2333625"/>
          <a:ext xmlns:a="http://schemas.openxmlformats.org/drawingml/2006/main" cx="11049000" cy="230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7191375"/>
              </a:tblGrid>
              <a:tr h="460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Frente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460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Museos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Vinculación de evidencias y revisión de registros incompletos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Formación e Investigación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Criterio de conteo y lista de diferencias por aclarar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460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Forum y Comunicación Social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Confirmación del alcance y enlace responsable de captura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Planeación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Asignación de 4 actividades y revisión de 3 metas sin dirección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9" name="propuesta-plazo">
            <a:extLst xmlns:a="http://schemas.openxmlformats.org/drawingml/2006/main">
              <a:ext uri="{FF2B5EF4-FFF2-40B4-BE49-F238E27FC236}">
                <a16:creationId xmlns:a16="http://schemas.microsoft.com/office/drawing/2014/main" id="{F2C99BCF-091F-4383-B1DC-F40EE486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Seguimiento sugerido: responsables en reunión y primer corte de atención en cinco días hábiles.</a:t>
            </a:r>
          </a:p>
        </p:txBody>
      </p:sp>
    </p:spTree>
    <p:extLst>
      <p:ext uri="{BB962C8B-B14F-4D97-AF65-F5344CB8AC3E}">
        <p14:creationId xmlns:p14="http://schemas.microsoft.com/office/powerpoint/2010/main" val="34790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EC3A4-C021-44BD-B7F2-4846F8638F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f5975b2774eb8"/>
          <a:stretch xmlns:a="http://schemas.openxmlformats.org/drawingml/2006/main"/>
        </p:blipFill>
        <p:spPr>
          <a:xfrm xmlns:a="http://schemas.openxmlformats.org/drawingml/2006/main">
            <a:off x="571500" y="234074"/>
            <a:ext cx="590550" cy="503403"/>
          </a:xfrm>
          <a:prstGeom xmlns:a="http://schemas.openxmlformats.org/drawingml/2006/main" prst="rect">
            <a:avLst/>
          </a:prstGeom>
        </p:spPr>
      </p:pic>
      <p:sp>
        <p:nvSpPr>
          <p:cNvPr id="2" name="encabezado">
            <a:extLst xmlns:a="http://schemas.openxmlformats.org/drawingml/2006/main">
              <a:ext uri="{FF2B5EF4-FFF2-40B4-BE49-F238E27FC236}">
                <a16:creationId xmlns:a16="http://schemas.microsoft.com/office/drawing/2014/main" id="{FBFD25A4-A3A0-4BE0-BD31-9D2DB7EE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SECRETARÍA DE CULTURA</a:t>
            </a:r>
          </a:p>
        </p:txBody>
      </p:sp>
      <p:sp>
        <p:nvSpPr>
          <p:cNvPr id="3" name="area">
            <a:extLst xmlns:a="http://schemas.openxmlformats.org/drawingml/2006/main">
              <a:ext uri="{FF2B5EF4-FFF2-40B4-BE49-F238E27FC236}">
                <a16:creationId xmlns:a16="http://schemas.microsoft.com/office/drawing/2014/main" id="{E445DF9E-B43C-4929-A74A-5057695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Dirección de Planeación</a:t>
            </a:r>
          </a:p>
        </p:txBody>
      </p:sp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470F50C2-1B3A-4A59-BA3E-1E9F633A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Anexo 1  Casos para aclaración</a:t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A76F7FC9-C004-4B07-8121-53BB17B4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Ejemplos trazables por identificador de actividad</a:t>
            </a:r>
          </a:p>
        </p:txBody>
      </p:sp>
      <p:sp>
        <p:nvSpPr>
          <p:cNvPr id="6" name="fuente">
            <a:extLst xmlns:a="http://schemas.openxmlformats.org/drawingml/2006/main">
              <a:ext uri="{FF2B5EF4-FFF2-40B4-BE49-F238E27FC236}">
                <a16:creationId xmlns:a16="http://schemas.microsoft.com/office/drawing/2014/main" id="{5186377E-3FFA-4016-B29E-F0D4092A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Fuente: DB_Sistema_Cultura_GTO_V1. Corte de lectura: 21 oct 2026, 16:33 h.</a:t>
            </a:r>
          </a:p>
        </p:txBody>
      </p:sp>
      <p:sp>
        <p:nvSpPr>
          <p:cNvPr id="7" name="pagina">
            <a:extLst xmlns:a="http://schemas.openxmlformats.org/drawingml/2006/main">
              <a:ext uri="{FF2B5EF4-FFF2-40B4-BE49-F238E27FC236}">
                <a16:creationId xmlns:a16="http://schemas.microsoft.com/office/drawing/2014/main" id="{704FFA94-9281-4207-91A4-4A09D0CD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5A65E-8F47-4A93-9B04-CCD0E52CDD0F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11049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19850"/>
                <a:gridCol w="1543050"/>
                <a:gridCol w="1543050"/>
                <a:gridCol w="1543050"/>
              </a:tblGrid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 y actividad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Territorio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Población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Diferencia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T w="5715">
                      <a:solidFill>
                        <a:srgbClr val="D9E2EB"/>
                      </a:solidFill>
                      <a:prstDash val="solid"/>
                    </a:lnT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Patrimonio: Cañada de la Virgen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ACT-SCBV52724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49,465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49,254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Formación: La Cocina del Noreste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ACT-SCWH81648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252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1,512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-1,260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1F6FA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Museos: Lectura de oráculos griegos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ACT-SCYI34868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2EB"/>
                      </a:solidFill>
                      <a:prstDash val="solid"/>
                    </a:lnL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2A3A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2EB"/>
                      </a:solidFill>
                      <a:prstDash val="solid"/>
                    </a:lnR>
                    <a:lnB w="5715">
                      <a:solidFill>
                        <a:srgbClr val="D9E2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pregunta">
            <a:extLst xmlns:a="http://schemas.openxmlformats.org/drawingml/2006/main">
              <a:ext uri="{FF2B5EF4-FFF2-40B4-BE49-F238E27FC236}">
                <a16:creationId xmlns:a16="http://schemas.microsoft.com/office/drawing/2014/main" id="{A8EA87C2-EC72-4C77-A564-559D06A0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Pregunta de trabajo: ¿ambas fuentes reportan el mismo universo, periodo y criterio de conteo?</a:t>
            </a:r>
          </a:p>
        </p:txBody>
      </p:sp>
      <p:sp>
        <p:nvSpPr>
          <p:cNvPr id="10" name="advertencia">
            <a:extLst xmlns:a="http://schemas.openxmlformats.org/drawingml/2006/main">
              <a:ext uri="{FF2B5EF4-FFF2-40B4-BE49-F238E27FC236}">
                <a16:creationId xmlns:a16="http://schemas.microsoft.com/office/drawing/2014/main" id="{C4FDB02C-15DB-40F7-B159-4CD56F09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Diferencia = territorio menos población. Estos casos son alertas de revisión, no errores confirmados.</a:t>
            </a:r>
          </a:p>
        </p:txBody>
      </p:sp>
    </p:spTree>
    <p:extLst>
      <p:ext uri="{BB962C8B-B14F-4D97-AF65-F5344CB8AC3E}">
        <p14:creationId xmlns:p14="http://schemas.microsoft.com/office/powerpoint/2010/main" val="1332093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DF8EE-4F5B-4242-A73B-D4B23DA32F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317ec57824183"/>
          <a:stretch xmlns:a="http://schemas.openxmlformats.org/drawingml/2006/main"/>
        </p:blipFill>
        <p:spPr>
          <a:xfrm xmlns:a="http://schemas.openxmlformats.org/drawingml/2006/main">
            <a:off x="571500" y="234074"/>
            <a:ext cx="590550" cy="503403"/>
          </a:xfrm>
          <a:prstGeom xmlns:a="http://schemas.openxmlformats.org/drawingml/2006/main" prst="rect">
            <a:avLst/>
          </a:prstGeom>
        </p:spPr>
      </p:pic>
      <p:sp>
        <p:nvSpPr>
          <p:cNvPr id="2" name="encabezado">
            <a:extLst xmlns:a="http://schemas.openxmlformats.org/drawingml/2006/main">
              <a:ext uri="{FF2B5EF4-FFF2-40B4-BE49-F238E27FC236}">
                <a16:creationId xmlns:a16="http://schemas.microsoft.com/office/drawing/2014/main" id="{DE3B74D3-FA99-494F-BD72-3D3A1723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SECRETARÍA DE CULTURA</a:t>
            </a:r>
          </a:p>
        </p:txBody>
      </p:sp>
      <p:sp>
        <p:nvSpPr>
          <p:cNvPr id="3" name="area">
            <a:extLst xmlns:a="http://schemas.openxmlformats.org/drawingml/2006/main">
              <a:ext uri="{FF2B5EF4-FFF2-40B4-BE49-F238E27FC236}">
                <a16:creationId xmlns:a16="http://schemas.microsoft.com/office/drawing/2014/main" id="{3571D594-FD5E-412B-AB63-163610B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Dirección de Planeación</a:t>
            </a:r>
          </a:p>
        </p:txBody>
      </p:sp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D5683021-FC43-43D7-BEDB-ED9DDEC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Anexo 2  Alcance del corte y cautelas</a:t>
            </a:r>
          </a:p>
        </p:txBody>
      </p:sp>
      <p:sp>
        <p:nvSpPr>
          <p:cNvPr id="5" name="fuente">
            <a:extLst xmlns:a="http://schemas.openxmlformats.org/drawingml/2006/main">
              <a:ext uri="{FF2B5EF4-FFF2-40B4-BE49-F238E27FC236}">
                <a16:creationId xmlns:a16="http://schemas.microsoft.com/office/drawing/2014/main" id="{3C030405-B32D-45E4-B796-2753E41A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Fuente: DB_Sistema_Cultura_GTO_V1. Corte de lectura: 21 oct 2026, 16:33 h.</a:t>
            </a:r>
          </a:p>
        </p:txBody>
      </p:sp>
      <p:sp>
        <p:nvSpPr>
          <p:cNvPr id="6" name="pagina">
            <a:extLst xmlns:a="http://schemas.openxmlformats.org/drawingml/2006/main">
              <a:ext uri="{FF2B5EF4-FFF2-40B4-BE49-F238E27FC236}">
                <a16:creationId xmlns:a16="http://schemas.microsoft.com/office/drawing/2014/main" id="{29801F43-A587-4094-AA2B-02E2F88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ango-captura">
            <a:extLst xmlns:a="http://schemas.openxmlformats.org/drawingml/2006/main">
              <a:ext uri="{FF2B5EF4-FFF2-40B4-BE49-F238E27FC236}">
                <a16:creationId xmlns:a16="http://schemas.microsoft.com/office/drawing/2014/main" id="{A09BB856-D944-4647-B0C0-D2E9AA49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Captura en plataforma</a:t>
            </a:r>
          </a:p>
        </p:txBody>
      </p:sp>
      <p:sp>
        <p:nvSpPr>
          <p:cNvPr id="8" name="valor-captura">
            <a:extLst xmlns:a="http://schemas.openxmlformats.org/drawingml/2006/main">
              <a:ext uri="{FF2B5EF4-FFF2-40B4-BE49-F238E27FC236}">
                <a16:creationId xmlns:a16="http://schemas.microsoft.com/office/drawing/2014/main" id="{BA10FDBC-B9F2-4360-BB70-D9116598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4 jun a 21 oct de 2026</a:t>
            </a:r>
          </a:p>
        </p:txBody>
      </p:sp>
      <p:sp>
        <p:nvSpPr>
          <p:cNvPr id="9" name="rango-actividad">
            <a:extLst xmlns:a="http://schemas.openxmlformats.org/drawingml/2006/main">
              <a:ext uri="{FF2B5EF4-FFF2-40B4-BE49-F238E27FC236}">
                <a16:creationId xmlns:a16="http://schemas.microsoft.com/office/drawing/2014/main" id="{067B20A2-FB5E-482C-89DB-D3DB885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Inicio de actividades reportadas</a:t>
            </a:r>
          </a:p>
        </p:txBody>
      </p:sp>
      <p:sp>
        <p:nvSpPr>
          <p:cNvPr id="10" name="valor-actividad">
            <a:extLst xmlns:a="http://schemas.openxmlformats.org/drawingml/2006/main">
              <a:ext uri="{FF2B5EF4-FFF2-40B4-BE49-F238E27FC236}">
                <a16:creationId xmlns:a16="http://schemas.microsoft.com/office/drawing/2014/main" id="{8BE1D8CB-EC9F-4F56-BC07-1F0321A7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1 ene a 11 oct de 2026</a:t>
            </a:r>
          </a:p>
        </p:txBody>
      </p:sp>
      <p:sp>
        <p:nvSpPr>
          <p:cNvPr id="11" name="fecha-fin">
            <a:extLst xmlns:a="http://schemas.openxmlformats.org/drawingml/2006/main">
              <a:ext uri="{FF2B5EF4-FFF2-40B4-BE49-F238E27FC236}">
                <a16:creationId xmlns:a16="http://schemas.microsoft.com/office/drawing/2014/main" id="{A9C2311A-DD8F-401C-A62A-38458543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Algunos registros terminan después del corte, incluso en 2027. Las 576 actividades son registros acumulados, no actividades concluidas.</a:t>
            </a:r>
          </a:p>
        </p:txBody>
      </p:sp>
      <p:sp>
        <p:nvSpPr>
          <p:cNvPr id="12" name="alerta-calculo">
            <a:extLst xmlns:a="http://schemas.openxmlformats.org/drawingml/2006/main">
              <a:ext uri="{FF2B5EF4-FFF2-40B4-BE49-F238E27FC236}">
                <a16:creationId xmlns:a16="http://schemas.microsoft.com/office/drawing/2014/main" id="{74923C27-FC0C-4662-8766-A4FB708F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4B87"/>
                </a:solidFill>
                <a:latin typeface="Arial"/>
                <a:ea typeface="Arial"/>
                <a:cs typeface="Arial"/>
              </a:rPr>
              <a:t>Cómo leer los pendientes</a:t>
            </a:r>
          </a:p>
        </p:txBody>
      </p:sp>
      <p:sp>
        <p:nvSpPr>
          <p:cNvPr id="13" name="detalle-alerta">
            <a:extLst xmlns:a="http://schemas.openxmlformats.org/drawingml/2006/main">
              <a:ext uri="{FF2B5EF4-FFF2-40B4-BE49-F238E27FC236}">
                <a16:creationId xmlns:a16="http://schemas.microsoft.com/office/drawing/2014/main" id="{82051D72-B369-430C-BCC4-0008534B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Sin territorio o población: falta un registro relacionado.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A3A"/>
                </a:solidFill>
                <a:latin typeface="Arial"/>
                <a:ea typeface="Arial"/>
                <a:cs typeface="Arial"/>
              </a:rPr>
              <a:t>Sin evidencia: falta un archivo vinculado.</a:t>
            </a:r>
          </a:p>
        </p:txBody>
      </p:sp>
      <p:sp>
        <p:nvSpPr>
          <p:cNvPr id="14" name="limite-interpretacion">
            <a:extLst xmlns:a="http://schemas.openxmlformats.org/drawingml/2006/main">
              <a:ext uri="{FF2B5EF4-FFF2-40B4-BE49-F238E27FC236}">
                <a16:creationId xmlns:a16="http://schemas.microsoft.com/office/drawing/2014/main" id="{BF249AB3-C753-4CF9-B281-9B2F8647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366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666A"/>
                </a:solidFill>
                <a:latin typeface="Arial"/>
                <a:ea typeface="Arial"/>
                <a:cs typeface="Arial"/>
              </a:rPr>
              <a:t>Las diferencias entre fuentes requieren aclaración. No indican por sí solas que una cifra sea incorrecta.</a:t>
            </a:r>
          </a:p>
        </p:txBody>
      </p:sp>
    </p:spTree>
    <p:extLst>
      <p:ext uri="{BB962C8B-B14F-4D97-AF65-F5344CB8AC3E}">
        <p14:creationId xmlns:p14="http://schemas.microsoft.com/office/powerpoint/2010/main" val="193518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2026-10-21T23:07:27.3160000Z</dcterms:created>
  <dcterms:modified xsi:type="dcterms:W3CDTF">2026-10-21T23:07:27.3160000Z</dcterms:modified>
</coreProperties>
</file>